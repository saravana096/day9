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965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3253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5342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26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050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1030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273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31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9206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791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441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99D1D-1D22-4D42-818B-B9B6C5ACAC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9151-D2DC-42BA-BF5D-103FFD794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1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3EDE7B-D3A2-180B-EA83-8FFB8B234606}"/>
              </a:ext>
            </a:extLst>
          </p:cNvPr>
          <p:cNvSpPr txBox="1"/>
          <p:nvPr/>
        </p:nvSpPr>
        <p:spPr>
          <a:xfrm>
            <a:off x="2209800" y="2351313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gradFill>
                  <a:gsLst>
                    <a:gs pos="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700000" scaled="1"/>
                </a:gradFill>
                <a:effectLst>
                  <a:glow rad="127000">
                    <a:schemeClr val="accent1"/>
                  </a:glow>
                  <a:outerShdw blurRad="241300" dist="317500" dir="5880000" algn="ctr" rotWithShape="0">
                    <a:srgbClr val="000000">
                      <a:alpha val="69000"/>
                    </a:srgbClr>
                  </a:outerShdw>
                  <a:reflection stA="95000" endPos="57000" dist="63500" dir="5400000" sy="-100000" algn="bl" rotWithShape="0"/>
                </a:effectLst>
                <a:highlight>
                  <a:srgbClr val="00FFFF"/>
                </a:highlight>
                <a:latin typeface="Algerian" panose="04020705040A02060702" pitchFamily="82" charset="0"/>
              </a:rPr>
              <a:t>GRADIENT</a:t>
            </a:r>
          </a:p>
        </p:txBody>
      </p:sp>
    </p:spTree>
    <p:extLst>
      <p:ext uri="{BB962C8B-B14F-4D97-AF65-F5344CB8AC3E}">
        <p14:creationId xmlns:p14="http://schemas.microsoft.com/office/powerpoint/2010/main" val="2212234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67CBD-FCA3-E79B-CB56-F0250F0F29ED}"/>
              </a:ext>
            </a:extLst>
          </p:cNvPr>
          <p:cNvSpPr txBox="1"/>
          <p:nvPr/>
        </p:nvSpPr>
        <p:spPr>
          <a:xfrm>
            <a:off x="1431469" y="1016398"/>
            <a:ext cx="10760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A gradient is a smooth transition between two or more colors.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In CSS, gradients are used as background images instead of solid colors.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They allow creative designs without needing external images.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10F82-925F-2B4B-C597-3D2159500601}"/>
              </a:ext>
            </a:extLst>
          </p:cNvPr>
          <p:cNvSpPr txBox="1"/>
          <p:nvPr/>
        </p:nvSpPr>
        <p:spPr>
          <a:xfrm>
            <a:off x="1725385" y="4201886"/>
            <a:ext cx="4631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entury Schoolbook" panose="02040604050505020304" pitchFamily="18" charset="0"/>
              </a:rPr>
              <a:t>Type of Gradient:</a:t>
            </a:r>
            <a:br>
              <a:rPr lang="en-IN" sz="2000" b="1" dirty="0">
                <a:latin typeface="Century Schoolbook" panose="02040604050505020304" pitchFamily="18" charset="0"/>
              </a:rPr>
            </a:br>
            <a:endParaRPr lang="en-IN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Century Schoolbook" panose="02040604050505020304" pitchFamily="18" charset="0"/>
              </a:rPr>
              <a:t>Linear-Gradient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Century Schoolbook" panose="02040604050505020304" pitchFamily="18" charset="0"/>
              </a:rPr>
              <a:t>Radial-Gradient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Century Schoolbook" panose="02040604050505020304" pitchFamily="18" charset="0"/>
              </a:rPr>
              <a:t>Conic-Gradient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latin typeface="Century Schoolbook" panose="02040604050505020304" pitchFamily="18" charset="0"/>
              </a:rPr>
              <a:t>Repeating-Gradient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42390-53CF-F0B6-291C-2A7602395251}"/>
              </a:ext>
            </a:extLst>
          </p:cNvPr>
          <p:cNvSpPr txBox="1"/>
          <p:nvPr/>
        </p:nvSpPr>
        <p:spPr>
          <a:xfrm>
            <a:off x="1725385" y="4093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What Is Gradient?</a:t>
            </a:r>
          </a:p>
        </p:txBody>
      </p:sp>
    </p:spTree>
    <p:extLst>
      <p:ext uri="{BB962C8B-B14F-4D97-AF65-F5344CB8AC3E}">
        <p14:creationId xmlns:p14="http://schemas.microsoft.com/office/powerpoint/2010/main" val="10101970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1DD4E-F92D-2E71-DA1F-D0951319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AFA18-7AFE-CE25-3D48-6FE05C08EA8A}"/>
              </a:ext>
            </a:extLst>
          </p:cNvPr>
          <p:cNvSpPr txBox="1"/>
          <p:nvPr/>
        </p:nvSpPr>
        <p:spPr>
          <a:xfrm>
            <a:off x="538842" y="1310120"/>
            <a:ext cx="7086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Linear Gradient</a:t>
            </a:r>
            <a:r>
              <a:rPr lang="en-IN" sz="2400" dirty="0"/>
              <a:t> changes colors in a straight 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1DC4B-2954-6C36-3D69-32D9A4D72AD2}"/>
              </a:ext>
            </a:extLst>
          </p:cNvPr>
          <p:cNvSpPr txBox="1"/>
          <p:nvPr/>
        </p:nvSpPr>
        <p:spPr>
          <a:xfrm>
            <a:off x="538842" y="376688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Linear Gradient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37C83-7257-9DD9-321C-B747825BDBE6}"/>
              </a:ext>
            </a:extLst>
          </p:cNvPr>
          <p:cNvSpPr txBox="1"/>
          <p:nvPr/>
        </p:nvSpPr>
        <p:spPr>
          <a:xfrm>
            <a:off x="538842" y="2993335"/>
            <a:ext cx="228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rebuchet MS" panose="020B0603020202020204" pitchFamily="34" charset="0"/>
              </a:rPr>
              <a:t>to top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bottom Default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left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right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top left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top right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bottom left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to bottom right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187F5-B590-91A1-40A1-3692BB4B8643}"/>
              </a:ext>
            </a:extLst>
          </p:cNvPr>
          <p:cNvSpPr txBox="1"/>
          <p:nvPr/>
        </p:nvSpPr>
        <p:spPr>
          <a:xfrm>
            <a:off x="538842" y="2282795"/>
            <a:ext cx="337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Gradient Direction: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91167-1B8A-5C63-D882-B88C7ED416C1}"/>
              </a:ext>
            </a:extLst>
          </p:cNvPr>
          <p:cNvSpPr txBox="1"/>
          <p:nvPr/>
        </p:nvSpPr>
        <p:spPr>
          <a:xfrm>
            <a:off x="8681356" y="4802681"/>
            <a:ext cx="3254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background: linear-gradient(direction, color1, color2);</a:t>
            </a:r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062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6B961-C286-6054-08FD-3782094B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BB80C7-4CDD-2339-C762-C14E6E716686}"/>
              </a:ext>
            </a:extLst>
          </p:cNvPr>
          <p:cNvSpPr txBox="1"/>
          <p:nvPr/>
        </p:nvSpPr>
        <p:spPr>
          <a:xfrm>
            <a:off x="538842" y="1310120"/>
            <a:ext cx="8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Radial Gradient</a:t>
            </a:r>
            <a:r>
              <a:rPr lang="en-IN" sz="2400" dirty="0"/>
              <a:t> starts from the center and spreads outward in a circular or elliptical shape.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F57D6-1CB2-D188-BF58-940B07F0F7F6}"/>
              </a:ext>
            </a:extLst>
          </p:cNvPr>
          <p:cNvSpPr txBox="1"/>
          <p:nvPr/>
        </p:nvSpPr>
        <p:spPr>
          <a:xfrm>
            <a:off x="538842" y="376688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Radial Gradient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742EB1-A6C7-CCF9-A381-AB73863475C7}"/>
              </a:ext>
            </a:extLst>
          </p:cNvPr>
          <p:cNvSpPr txBox="1"/>
          <p:nvPr/>
        </p:nvSpPr>
        <p:spPr>
          <a:xfrm>
            <a:off x="538842" y="2720638"/>
            <a:ext cx="555715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Circle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Ellipse Default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center (Default)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top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bottom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left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right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top left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top right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bottom left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at bottom right</a:t>
            </a:r>
          </a:p>
          <a:p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E2CF0-2688-80CF-37C8-BC8FC5D203C2}"/>
              </a:ext>
            </a:extLst>
          </p:cNvPr>
          <p:cNvSpPr txBox="1"/>
          <p:nvPr/>
        </p:nvSpPr>
        <p:spPr>
          <a:xfrm>
            <a:off x="538842" y="2282795"/>
            <a:ext cx="337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Direction Keywords: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0503BC-C569-A1C7-C2A8-333F0984D466}"/>
              </a:ext>
            </a:extLst>
          </p:cNvPr>
          <p:cNvSpPr txBox="1"/>
          <p:nvPr/>
        </p:nvSpPr>
        <p:spPr>
          <a:xfrm>
            <a:off x="8648699" y="3975367"/>
            <a:ext cx="32548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</a:rPr>
              <a:t>background: radial-gradient(circle, red, blue);</a:t>
            </a:r>
          </a:p>
          <a:p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</a:rPr>
              <a:t>background: radial-gradient(ellipse, red, yellow);</a:t>
            </a:r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6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6A339-D7F1-29BA-97EA-E2B8FF9B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F4B4A2-98A5-0C95-DC6B-D596B9DE3FD1}"/>
              </a:ext>
            </a:extLst>
          </p:cNvPr>
          <p:cNvSpPr txBox="1"/>
          <p:nvPr/>
        </p:nvSpPr>
        <p:spPr>
          <a:xfrm>
            <a:off x="538842" y="1310120"/>
            <a:ext cx="8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 </a:t>
            </a:r>
            <a:r>
              <a:rPr lang="en-IN" sz="2400" b="1" dirty="0"/>
              <a:t>Conic Gradient</a:t>
            </a:r>
            <a:r>
              <a:rPr lang="en-IN" sz="2400" dirty="0"/>
              <a:t> rotates colors around a center point like a color wheel.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ED3F2-1DF8-8B3D-4B7F-B01C435A730E}"/>
              </a:ext>
            </a:extLst>
          </p:cNvPr>
          <p:cNvSpPr txBox="1"/>
          <p:nvPr/>
        </p:nvSpPr>
        <p:spPr>
          <a:xfrm>
            <a:off x="538842" y="376688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Conic Gradient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CCB4B-3B90-F304-CD2F-8E9A3EEB1AA7}"/>
              </a:ext>
            </a:extLst>
          </p:cNvPr>
          <p:cNvSpPr txBox="1"/>
          <p:nvPr/>
        </p:nvSpPr>
        <p:spPr>
          <a:xfrm>
            <a:off x="538841" y="3025437"/>
            <a:ext cx="36848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at center (Default) </a:t>
            </a:r>
          </a:p>
          <a:p>
            <a:r>
              <a:rPr lang="en-IN" sz="2400" dirty="0"/>
              <a:t>at top </a:t>
            </a:r>
          </a:p>
          <a:p>
            <a:r>
              <a:rPr lang="en-IN" sz="2400" dirty="0"/>
              <a:t>at bottom </a:t>
            </a:r>
          </a:p>
          <a:p>
            <a:r>
              <a:rPr lang="en-IN" sz="2400" dirty="0"/>
              <a:t>at left </a:t>
            </a:r>
          </a:p>
          <a:p>
            <a:r>
              <a:rPr lang="en-IN" sz="2400" dirty="0"/>
              <a:t>at right </a:t>
            </a:r>
          </a:p>
          <a:p>
            <a:r>
              <a:rPr lang="en-IN" sz="2400" dirty="0"/>
              <a:t>at top left </a:t>
            </a:r>
          </a:p>
          <a:p>
            <a:r>
              <a:rPr lang="en-IN" sz="2400" dirty="0"/>
              <a:t>at top right </a:t>
            </a:r>
          </a:p>
          <a:p>
            <a:r>
              <a:rPr lang="en-IN" sz="2400" dirty="0"/>
              <a:t>at bottom left </a:t>
            </a:r>
          </a:p>
          <a:p>
            <a:r>
              <a:rPr lang="en-IN" sz="2400" dirty="0"/>
              <a:t>at bottom right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65B3F-4D0C-F56F-F61C-3A3BC01B4783}"/>
              </a:ext>
            </a:extLst>
          </p:cNvPr>
          <p:cNvSpPr txBox="1"/>
          <p:nvPr/>
        </p:nvSpPr>
        <p:spPr>
          <a:xfrm>
            <a:off x="538842" y="2282795"/>
            <a:ext cx="337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Direction Keywords: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555E71-84EE-1580-F2F6-2E80277DD5D7}"/>
              </a:ext>
            </a:extLst>
          </p:cNvPr>
          <p:cNvSpPr txBox="1"/>
          <p:nvPr/>
        </p:nvSpPr>
        <p:spPr>
          <a:xfrm>
            <a:off x="8605156" y="3637909"/>
            <a:ext cx="32548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</a:rPr>
              <a:t>background: conic-gradient(red, green);</a:t>
            </a:r>
          </a:p>
          <a:p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</a:rPr>
              <a:t>background: conic-gradient(from 90deg, red, green);</a:t>
            </a:r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22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81D1E-CA25-EE63-CFDD-42EC2DEC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4A9947-CF26-B3BD-CA0E-EA0D23B22A91}"/>
              </a:ext>
            </a:extLst>
          </p:cNvPr>
          <p:cNvSpPr txBox="1"/>
          <p:nvPr/>
        </p:nvSpPr>
        <p:spPr>
          <a:xfrm>
            <a:off x="538842" y="1310120"/>
            <a:ext cx="8518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A Repeating Gradient is a CSS gradient that repeats the same color pattern continuously across an element. Instead of displaying the gradient only once, it automatically repeats until the entire element is filled.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27F4D-85F0-06F9-8212-455BD3301E91}"/>
              </a:ext>
            </a:extLst>
          </p:cNvPr>
          <p:cNvSpPr txBox="1"/>
          <p:nvPr/>
        </p:nvSpPr>
        <p:spPr>
          <a:xfrm>
            <a:off x="538842" y="376688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Repeating Gradient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89E7A-2CD5-B997-EEF6-89A08B6EDF5F}"/>
              </a:ext>
            </a:extLst>
          </p:cNvPr>
          <p:cNvSpPr txBox="1"/>
          <p:nvPr/>
        </p:nvSpPr>
        <p:spPr>
          <a:xfrm>
            <a:off x="489854" y="4039775"/>
            <a:ext cx="4147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repeating-linear-gradient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repeating-radial-gradient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repeating-conic-gradient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FA699-0A72-AB4A-791C-ABA00113F509}"/>
              </a:ext>
            </a:extLst>
          </p:cNvPr>
          <p:cNvSpPr txBox="1"/>
          <p:nvPr/>
        </p:nvSpPr>
        <p:spPr>
          <a:xfrm>
            <a:off x="538841" y="3319121"/>
            <a:ext cx="5350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Type of Repeating Gradient: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832A3-DE99-EAA1-CB58-FC13BDBD342D}"/>
              </a:ext>
            </a:extLst>
          </p:cNvPr>
          <p:cNvSpPr txBox="1"/>
          <p:nvPr/>
        </p:nvSpPr>
        <p:spPr>
          <a:xfrm>
            <a:off x="6193972" y="3637909"/>
            <a:ext cx="56660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background: repeating-linear-gradient(to top right, red, yellow, green, blue);</a:t>
            </a:r>
          </a:p>
          <a:p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background: repeating-radial-gradient(at top left, red, yellow, green);</a:t>
            </a:r>
          </a:p>
          <a:p>
            <a:endParaRPr lang="en-IN" sz="2000" b="1" dirty="0">
              <a:highlight>
                <a:srgbClr val="808080"/>
              </a:highlight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background: repeating-conic-gradient(red, blue);</a:t>
            </a:r>
          </a:p>
        </p:txBody>
      </p:sp>
    </p:spTree>
    <p:extLst>
      <p:ext uri="{BB962C8B-B14F-4D97-AF65-F5344CB8AC3E}">
        <p14:creationId xmlns:p14="http://schemas.microsoft.com/office/powerpoint/2010/main" val="2682370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2B8B4-BEEF-F21E-D16D-22D0B52D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0291F2-6039-612B-6C80-705ED3D61385}"/>
              </a:ext>
            </a:extLst>
          </p:cNvPr>
          <p:cNvSpPr txBox="1"/>
          <p:nvPr/>
        </p:nvSpPr>
        <p:spPr>
          <a:xfrm>
            <a:off x="2209800" y="2351313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effectLst>
                  <a:glow rad="152400">
                    <a:srgbClr val="6F2E00"/>
                  </a:glow>
                  <a:outerShdw blurRad="241300" dist="317500" dir="5880000" algn="ctr" rotWithShape="0">
                    <a:srgbClr val="000000">
                      <a:alpha val="69000"/>
                    </a:srgbClr>
                  </a:outerShdw>
                  <a:reflection stA="95000" endPos="57000" dist="63500" dir="5400000" sy="-100000" algn="bl" rotWithShape="0"/>
                </a:effectLst>
                <a:highlight>
                  <a:srgbClr val="00FFFF"/>
                </a:highlight>
                <a:latin typeface="Algerian" panose="04020705040A02060702" pitchFamily="82" charset="0"/>
              </a:rPr>
              <a:t>Box </a:t>
            </a:r>
            <a:r>
              <a:rPr lang="en-IN" sz="8800" dirty="0"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effectLst>
                  <a:glow rad="152400">
                    <a:srgbClr val="6F2E00"/>
                  </a:glow>
                  <a:outerShdw blurRad="241300" dist="317500" dir="5880000" algn="ctr" rotWithShape="0">
                    <a:srgbClr val="000000">
                      <a:alpha val="69000"/>
                    </a:srgbClr>
                  </a:outerShdw>
                  <a:reflection stA="95000" endPos="57000" dist="63500" dir="5400000" sy="-100000" algn="bl" rotWithShape="0"/>
                </a:effectLst>
                <a:highlight>
                  <a:srgbClr val="00FFFF"/>
                </a:highlight>
                <a:latin typeface="Algerian" panose="04020705040A02060702" pitchFamily="82" charset="0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1512755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414A4-9745-351D-7FB2-F1A37BEA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A0F1C-E7B5-2449-9A12-4FB7B7BF336B}"/>
              </a:ext>
            </a:extLst>
          </p:cNvPr>
          <p:cNvSpPr txBox="1"/>
          <p:nvPr/>
        </p:nvSpPr>
        <p:spPr>
          <a:xfrm>
            <a:off x="1431469" y="1016398"/>
            <a:ext cx="8953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Every HTML element is treated as a rectangular box in CSS.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The box model defines how content, padding, border, and margin interact.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It helps in layout design and spacing control.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8F880-DC4D-2761-C948-9B517C4A4E81}"/>
              </a:ext>
            </a:extLst>
          </p:cNvPr>
          <p:cNvSpPr txBox="1"/>
          <p:nvPr/>
        </p:nvSpPr>
        <p:spPr>
          <a:xfrm>
            <a:off x="1431469" y="3792532"/>
            <a:ext cx="4631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entury Schoolbook" panose="02040604050505020304" pitchFamily="18" charset="0"/>
              </a:rPr>
              <a:t>Usage of Box-Model:</a:t>
            </a:r>
            <a:br>
              <a:rPr lang="en-IN" sz="2000" b="1" dirty="0">
                <a:latin typeface="Century Schoolbook" panose="02040604050505020304" pitchFamily="18" charset="0"/>
              </a:rPr>
            </a:br>
            <a:endParaRPr lang="en-IN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rebuchet MS" panose="020B0603020202020204" pitchFamily="34" charset="0"/>
              </a:rPr>
              <a:t>Control spacing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rebuchet MS" panose="020B0603020202020204" pitchFamily="34" charset="0"/>
              </a:rPr>
              <a:t>Create layouts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rebuchet MS" panose="020B0603020202020204" pitchFamily="34" charset="0"/>
              </a:rPr>
              <a:t>Align elements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rebuchet MS" panose="020B0603020202020204" pitchFamily="34" charset="0"/>
              </a:rPr>
              <a:t>Design responsive pages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rebuchet MS" panose="020B0603020202020204" pitchFamily="34" charset="0"/>
              </a:rPr>
              <a:t>Avoid overlapping</a:t>
            </a:r>
            <a:endParaRPr lang="en-IN" sz="2000" b="1" dirty="0"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1AB8C-8C60-33EF-DA26-947BD135DFDE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What is Box Model?</a:t>
            </a:r>
          </a:p>
        </p:txBody>
      </p:sp>
    </p:spTree>
    <p:extLst>
      <p:ext uri="{BB962C8B-B14F-4D97-AF65-F5344CB8AC3E}">
        <p14:creationId xmlns:p14="http://schemas.microsoft.com/office/powerpoint/2010/main" val="1225240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79D6C-6B32-FD61-9142-3A16B490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61896B-9890-7C19-7DD6-26DFE44EB8FA}"/>
              </a:ext>
            </a:extLst>
          </p:cNvPr>
          <p:cNvSpPr txBox="1"/>
          <p:nvPr/>
        </p:nvSpPr>
        <p:spPr>
          <a:xfrm>
            <a:off x="1431469" y="1005512"/>
            <a:ext cx="8953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rebuchet MS" panose="020B0603020202020204" pitchFamily="34" charset="0"/>
              </a:rPr>
              <a:t>CONTENT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rebuchet MS" panose="020B0603020202020204" pitchFamily="34" charset="0"/>
              </a:rPr>
              <a:t>PADDING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rebuchet MS" panose="020B0603020202020204" pitchFamily="34" charset="0"/>
              </a:rPr>
              <a:t>BORDER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rebuchet MS" panose="020B0603020202020204" pitchFamily="34" charset="0"/>
              </a:rPr>
              <a:t>MARGIN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F6BA3-1D1D-F105-70C5-489E1555630A}"/>
              </a:ext>
            </a:extLst>
          </p:cNvPr>
          <p:cNvSpPr txBox="1"/>
          <p:nvPr/>
        </p:nvSpPr>
        <p:spPr>
          <a:xfrm>
            <a:off x="1431469" y="3429000"/>
            <a:ext cx="63028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CONTENT:</a:t>
            </a:r>
            <a:br>
              <a:rPr lang="en-IN" sz="2000" b="1" dirty="0">
                <a:latin typeface="Century Schoolbook" panose="02040604050505020304" pitchFamily="18" charset="0"/>
              </a:rPr>
            </a:br>
            <a:endParaRPr lang="en-IN" sz="2000" b="1" dirty="0">
              <a:latin typeface="Century Schoolbook" panose="02040604050505020304" pitchFamily="18" charset="0"/>
            </a:endParaRPr>
          </a:p>
          <a:p>
            <a:r>
              <a:rPr lang="en-IN" sz="2400" dirty="0">
                <a:latin typeface="Trebuchet MS" panose="020B0603020202020204" pitchFamily="34" charset="0"/>
              </a:rPr>
              <a:t>The actual content inside the element like Text, Image, Video &amp; Button</a:t>
            </a:r>
            <a:endParaRPr lang="en-IN" sz="2400" b="1" dirty="0">
              <a:latin typeface="Trebuchet MS" panose="020B06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EB2CB-C377-BA9D-7AC5-C09AEDF7751A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There are </a:t>
            </a:r>
            <a:r>
              <a:rPr lang="en-IN" sz="3200" b="1" dirty="0">
                <a:latin typeface="Bernard MT Condensed" panose="02050806060905020404" pitchFamily="18" charset="0"/>
              </a:rPr>
              <a:t>4 Layer Box</a:t>
            </a:r>
            <a:r>
              <a:rPr lang="en-IN" sz="3200" dirty="0">
                <a:latin typeface="Bernard MT Condensed" panose="020508060609050204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6BFB4-7A06-FA52-5A05-89DB5EE19343}"/>
              </a:ext>
            </a:extLst>
          </p:cNvPr>
          <p:cNvSpPr txBox="1"/>
          <p:nvPr/>
        </p:nvSpPr>
        <p:spPr>
          <a:xfrm>
            <a:off x="8648699" y="3975367"/>
            <a:ext cx="32548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width:300px;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height:150px;</a:t>
            </a:r>
          </a:p>
        </p:txBody>
      </p:sp>
    </p:spTree>
    <p:extLst>
      <p:ext uri="{BB962C8B-B14F-4D97-AF65-F5344CB8AC3E}">
        <p14:creationId xmlns:p14="http://schemas.microsoft.com/office/powerpoint/2010/main" val="189083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3BB62-DE9A-9B21-388A-E4F86095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79C21-BE45-7FD0-9D4A-BAAD15CDAF21}"/>
              </a:ext>
            </a:extLst>
          </p:cNvPr>
          <p:cNvSpPr txBox="1"/>
          <p:nvPr/>
        </p:nvSpPr>
        <p:spPr>
          <a:xfrm>
            <a:off x="1431469" y="1016398"/>
            <a:ext cx="895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Padding is the space between the content and the border.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C0BCD-E155-115A-1851-315A37C66E2F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PADDING: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7AC09-8B35-0185-9E9C-18BE8685B942}"/>
              </a:ext>
            </a:extLst>
          </p:cNvPr>
          <p:cNvSpPr txBox="1"/>
          <p:nvPr/>
        </p:nvSpPr>
        <p:spPr>
          <a:xfrm>
            <a:off x="8648699" y="3975367"/>
            <a:ext cx="325482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padding:20px;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padding-top:20px; 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padding-right:10px; padding-bottom:20px; padding-left:10px;</a:t>
            </a:r>
          </a:p>
        </p:txBody>
      </p:sp>
    </p:spTree>
    <p:extLst>
      <p:ext uri="{BB962C8B-B14F-4D97-AF65-F5344CB8AC3E}">
        <p14:creationId xmlns:p14="http://schemas.microsoft.com/office/powerpoint/2010/main" val="137889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66254-6112-A1A0-E349-AEAE550D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20E588-5E86-A6FE-74FF-4A98608F7ABB}"/>
              </a:ext>
            </a:extLst>
          </p:cNvPr>
          <p:cNvSpPr txBox="1"/>
          <p:nvPr/>
        </p:nvSpPr>
        <p:spPr>
          <a:xfrm>
            <a:off x="1431469" y="1016398"/>
            <a:ext cx="895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Border surrounds the padding and content.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3C9CA-3FCA-DAD2-A2F7-A9C634C78CC6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BORDER: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D4E45-0AA4-598B-94EF-1239C7D375F2}"/>
              </a:ext>
            </a:extLst>
          </p:cNvPr>
          <p:cNvSpPr txBox="1"/>
          <p:nvPr/>
        </p:nvSpPr>
        <p:spPr>
          <a:xfrm>
            <a:off x="8088087" y="3975367"/>
            <a:ext cx="38154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border:3px solid black;</a:t>
            </a:r>
          </a:p>
          <a:p>
            <a:endParaRPr lang="en-IN" sz="2000" dirty="0">
              <a:highlight>
                <a:srgbClr val="8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EABC6-961F-2FD5-22A8-4199AF3076F5}"/>
              </a:ext>
            </a:extLst>
          </p:cNvPr>
          <p:cNvSpPr txBox="1"/>
          <p:nvPr/>
        </p:nvSpPr>
        <p:spPr>
          <a:xfrm>
            <a:off x="1431469" y="2634343"/>
            <a:ext cx="250371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Border Types: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solid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dashed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dotted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double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groove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ridge</a:t>
            </a:r>
          </a:p>
        </p:txBody>
      </p:sp>
    </p:spTree>
    <p:extLst>
      <p:ext uri="{BB962C8B-B14F-4D97-AF65-F5344CB8AC3E}">
        <p14:creationId xmlns:p14="http://schemas.microsoft.com/office/powerpoint/2010/main" val="1767726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1A9D8-B72E-287B-8DE1-E7B48F00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B5614-84CD-A868-F4C6-371CFEB9B35F}"/>
              </a:ext>
            </a:extLst>
          </p:cNvPr>
          <p:cNvSpPr txBox="1"/>
          <p:nvPr/>
        </p:nvSpPr>
        <p:spPr>
          <a:xfrm>
            <a:off x="1431469" y="1016398"/>
            <a:ext cx="8953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Space outside the border.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C48DC-EC10-263D-399F-76294EBC7990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MARGIN: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9B39D-4FF4-64BB-D51C-C69F465CF100}"/>
              </a:ext>
            </a:extLst>
          </p:cNvPr>
          <p:cNvSpPr txBox="1"/>
          <p:nvPr/>
        </p:nvSpPr>
        <p:spPr>
          <a:xfrm>
            <a:off x="8088087" y="3975367"/>
            <a:ext cx="381544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margin:20px;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margin-top:20px; 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margin-right:10px; 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margin-bottom:20px; </a:t>
            </a:r>
          </a:p>
          <a:p>
            <a:r>
              <a:rPr lang="en-IN" sz="2000" dirty="0">
                <a:highlight>
                  <a:srgbClr val="808080"/>
                </a:highlight>
                <a:latin typeface="Trebuchet MS" panose="020B0603020202020204" pitchFamily="34" charset="0"/>
              </a:rPr>
              <a:t>margin-left:10px;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73F9D-FB96-38FA-1F8F-444FFC435C57}"/>
              </a:ext>
            </a:extLst>
          </p:cNvPr>
          <p:cNvSpPr txBox="1"/>
          <p:nvPr/>
        </p:nvSpPr>
        <p:spPr>
          <a:xfrm>
            <a:off x="1341659" y="1576541"/>
            <a:ext cx="456656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Total Size Calculation:</a:t>
            </a:r>
          </a:p>
          <a:p>
            <a:endParaRPr lang="en-IN" dirty="0"/>
          </a:p>
          <a:p>
            <a:r>
              <a:rPr lang="en-IN" sz="2000" dirty="0">
                <a:latin typeface="Trebuchet MS" panose="020B0603020202020204" pitchFamily="34" charset="0"/>
              </a:rPr>
              <a:t>width:200px;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padding:20px;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border:5px;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margin:30px;</a:t>
            </a:r>
          </a:p>
          <a:p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200px (content)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+20px left padding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+20px right padding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+5px left border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+5px right border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+30px left margin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+30px right margin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-------------------------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250px total width</a:t>
            </a:r>
          </a:p>
          <a:p>
            <a:br>
              <a:rPr lang="en-IN" sz="2000" dirty="0">
                <a:latin typeface="Trebuchet MS" panose="020B0603020202020204" pitchFamily="34" charset="0"/>
              </a:rPr>
            </a:br>
            <a:br>
              <a:rPr lang="en-IN" sz="2000" dirty="0">
                <a:latin typeface="Trebuchet MS" panose="020B0603020202020204" pitchFamily="34" charset="0"/>
              </a:rPr>
            </a:br>
            <a:endParaRPr lang="en-IN" sz="2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181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40230-5EB6-0712-96F3-317CC2E6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8E151E-7120-3FA5-AC40-9454A3DF0FE7}"/>
              </a:ext>
            </a:extLst>
          </p:cNvPr>
          <p:cNvSpPr txBox="1"/>
          <p:nvPr/>
        </p:nvSpPr>
        <p:spPr>
          <a:xfrm>
            <a:off x="1431469" y="1016398"/>
            <a:ext cx="8953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Normally, CSS adds </a:t>
            </a:r>
            <a:r>
              <a:rPr lang="en-IN" sz="2400" b="1" dirty="0">
                <a:latin typeface="Trebuchet MS" panose="020B0603020202020204" pitchFamily="34" charset="0"/>
              </a:rPr>
              <a:t>padding</a:t>
            </a:r>
            <a:r>
              <a:rPr lang="en-IN" sz="2400" dirty="0">
                <a:latin typeface="Trebuchet MS" panose="020B0603020202020204" pitchFamily="34" charset="0"/>
              </a:rPr>
              <a:t> and </a:t>
            </a:r>
            <a:r>
              <a:rPr lang="en-IN" sz="2400" b="1" dirty="0">
                <a:latin typeface="Trebuchet MS" panose="020B0603020202020204" pitchFamily="34" charset="0"/>
              </a:rPr>
              <a:t>border</a:t>
            </a:r>
            <a:r>
              <a:rPr lang="en-IN" sz="2400" dirty="0">
                <a:latin typeface="Trebuchet MS" panose="020B0603020202020204" pitchFamily="34" charset="0"/>
              </a:rPr>
              <a:t> to the width and height of an element. This can make elements larger than expected.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The </a:t>
            </a:r>
            <a:r>
              <a:rPr lang="en-IN" sz="2400" b="1" dirty="0">
                <a:latin typeface="Trebuchet MS" panose="020B0603020202020204" pitchFamily="34" charset="0"/>
              </a:rPr>
              <a:t>box-sizing</a:t>
            </a:r>
            <a:r>
              <a:rPr lang="en-IN" sz="2400" dirty="0">
                <a:latin typeface="Trebuchet MS" panose="020B0603020202020204" pitchFamily="34" charset="0"/>
              </a:rPr>
              <a:t> property controls </a:t>
            </a:r>
            <a:r>
              <a:rPr lang="en-IN" sz="2400" b="1" dirty="0">
                <a:latin typeface="Trebuchet MS" panose="020B0603020202020204" pitchFamily="34" charset="0"/>
              </a:rPr>
              <a:t>how the browser calculates the width and height</a:t>
            </a:r>
            <a:r>
              <a:rPr lang="en-IN" sz="2400" dirty="0">
                <a:latin typeface="Trebuchet MS" panose="020B0603020202020204" pitchFamily="34" charset="0"/>
              </a:rPr>
              <a:t> of an element.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0C995-851A-04B7-409B-04D1E03EFC2F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BOX-SIZING: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D05B8-ACBD-CE29-03EE-354FE34FEAC8}"/>
              </a:ext>
            </a:extLst>
          </p:cNvPr>
          <p:cNvSpPr txBox="1"/>
          <p:nvPr/>
        </p:nvSpPr>
        <p:spPr>
          <a:xfrm>
            <a:off x="1431469" y="4180115"/>
            <a:ext cx="38154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TYPES OF BOX-SIZING:</a:t>
            </a:r>
          </a:p>
          <a:p>
            <a:endParaRPr lang="en-IN" sz="2800" dirty="0">
              <a:latin typeface="Bernard MT Condensed" panose="020508060609050204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CONTENT-BOX (DEFAULT)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rebuchet MS" panose="020B0603020202020204" pitchFamily="34" charset="0"/>
              </a:rPr>
              <a:t>BORDER-BOX</a:t>
            </a:r>
          </a:p>
        </p:txBody>
      </p:sp>
    </p:spTree>
    <p:extLst>
      <p:ext uri="{BB962C8B-B14F-4D97-AF65-F5344CB8AC3E}">
        <p14:creationId xmlns:p14="http://schemas.microsoft.com/office/powerpoint/2010/main" val="22679679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5613A-1CF3-D777-E276-F6CF755E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340E27-8DBA-665D-121B-31D0244D5292}"/>
              </a:ext>
            </a:extLst>
          </p:cNvPr>
          <p:cNvSpPr txBox="1"/>
          <p:nvPr/>
        </p:nvSpPr>
        <p:spPr>
          <a:xfrm>
            <a:off x="1431469" y="1016398"/>
            <a:ext cx="8953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Only the content is included in the specified width and height.</a:t>
            </a:r>
          </a:p>
          <a:p>
            <a:endParaRPr lang="en-IN" sz="2400" dirty="0">
              <a:latin typeface="Trebuchet MS" panose="020B0603020202020204" pitchFamily="34" charset="0"/>
            </a:endParaRPr>
          </a:p>
          <a:p>
            <a:r>
              <a:rPr lang="en-IN" sz="2400" dirty="0">
                <a:latin typeface="Trebuchet MS" panose="020B0603020202020204" pitchFamily="34" charset="0"/>
              </a:rPr>
              <a:t>Padding and border are </a:t>
            </a:r>
            <a:r>
              <a:rPr lang="en-IN" sz="2400" b="1" dirty="0">
                <a:latin typeface="Trebuchet MS" panose="020B0603020202020204" pitchFamily="34" charset="0"/>
              </a:rPr>
              <a:t>added outside</a:t>
            </a:r>
            <a:r>
              <a:rPr lang="en-IN" sz="2400" dirty="0">
                <a:latin typeface="Trebuchet MS" panose="020B0603020202020204" pitchFamily="34" charset="0"/>
              </a:rPr>
              <a:t> the specified size.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562D5-CD29-B7D1-2FCA-E6397B5B359D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CONTENT-BOX: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9FBE7-BE7C-A967-6D70-F30D62D0EC57}"/>
              </a:ext>
            </a:extLst>
          </p:cNvPr>
          <p:cNvSpPr txBox="1"/>
          <p:nvPr/>
        </p:nvSpPr>
        <p:spPr>
          <a:xfrm>
            <a:off x="8033658" y="3429000"/>
            <a:ext cx="38154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</a:rPr>
              <a:t>.box {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width:200px;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padding:20px;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border:5px solid black;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box-sizing:content-box;</a:t>
            </a:r>
          </a:p>
          <a:p>
            <a:r>
              <a:rPr lang="en-IN" sz="2000" dirty="0">
                <a:highlight>
                  <a:srgbClr val="808080"/>
                </a:highlight>
              </a:rPr>
              <a:t> }</a:t>
            </a:r>
            <a:endParaRPr lang="en-IN" sz="2000" dirty="0">
              <a:highlight>
                <a:srgbClr val="808080"/>
              </a:highlight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5919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103232-EB63-0881-BA00-F5DD5836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F4D1A-F76E-8628-992B-D9F31ACEBFE8}"/>
              </a:ext>
            </a:extLst>
          </p:cNvPr>
          <p:cNvSpPr txBox="1"/>
          <p:nvPr/>
        </p:nvSpPr>
        <p:spPr>
          <a:xfrm>
            <a:off x="1431469" y="1016397"/>
            <a:ext cx="35868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200px (content)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+20px left padding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+20px right padding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+5px left border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+5px right border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------------------------- </a:t>
            </a:r>
          </a:p>
          <a:p>
            <a:r>
              <a:rPr lang="en-IN" sz="2400" dirty="0">
                <a:latin typeface="Trebuchet MS" panose="020B0603020202020204" pitchFamily="34" charset="0"/>
              </a:rPr>
              <a:t>250px total width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74BA8-8A1D-39B5-066B-78110E087410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Width Calculation: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4561E-BE89-8B86-F2AE-3FED55A25E6D}"/>
              </a:ext>
            </a:extLst>
          </p:cNvPr>
          <p:cNvSpPr txBox="1"/>
          <p:nvPr/>
        </p:nvSpPr>
        <p:spPr>
          <a:xfrm>
            <a:off x="6662057" y="333144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Height Calculation: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036F4-16A3-340D-2D8A-2277B462F165}"/>
              </a:ext>
            </a:extLst>
          </p:cNvPr>
          <p:cNvSpPr txBox="1"/>
          <p:nvPr/>
        </p:nvSpPr>
        <p:spPr>
          <a:xfrm>
            <a:off x="6662057" y="1016397"/>
            <a:ext cx="35868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Trebuchet MS" panose="020B0603020202020204" pitchFamily="34" charset="0"/>
              </a:defRPr>
            </a:lvl1pPr>
          </a:lstStyle>
          <a:p>
            <a:r>
              <a:rPr lang="en-IN" dirty="0"/>
              <a:t>100px (content) </a:t>
            </a:r>
          </a:p>
          <a:p>
            <a:r>
              <a:rPr lang="en-IN" dirty="0"/>
              <a:t>+20px top padding </a:t>
            </a:r>
          </a:p>
          <a:p>
            <a:r>
              <a:rPr lang="en-IN" dirty="0"/>
              <a:t>+20px bottom padding </a:t>
            </a:r>
          </a:p>
          <a:p>
            <a:r>
              <a:rPr lang="en-IN" dirty="0"/>
              <a:t>+5px top border </a:t>
            </a:r>
          </a:p>
          <a:p>
            <a:r>
              <a:rPr lang="en-IN" dirty="0"/>
              <a:t>+5px bottom border </a:t>
            </a:r>
          </a:p>
          <a:p>
            <a:r>
              <a:rPr lang="en-IN" dirty="0"/>
              <a:t>------------------------- </a:t>
            </a:r>
          </a:p>
          <a:p>
            <a:r>
              <a:rPr lang="en-IN" dirty="0"/>
              <a:t>150px total width</a:t>
            </a:r>
          </a:p>
        </p:txBody>
      </p:sp>
    </p:spTree>
    <p:extLst>
      <p:ext uri="{BB962C8B-B14F-4D97-AF65-F5344CB8AC3E}">
        <p14:creationId xmlns:p14="http://schemas.microsoft.com/office/powerpoint/2010/main" val="2147737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2">
                <a:lumMod val="20000"/>
                <a:lumOff val="80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bg1">
                <a:lumMod val="75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C0A82-7C7B-B274-B655-917465EC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0D0EF7-7A6B-478A-3B60-9AF7A726644B}"/>
              </a:ext>
            </a:extLst>
          </p:cNvPr>
          <p:cNvSpPr txBox="1"/>
          <p:nvPr/>
        </p:nvSpPr>
        <p:spPr>
          <a:xfrm>
            <a:off x="1431469" y="1016398"/>
            <a:ext cx="89535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rebuchet MS" panose="020B0603020202020204" pitchFamily="34" charset="0"/>
              </a:rPr>
              <a:t>The specified width and height </a:t>
            </a:r>
            <a:r>
              <a:rPr lang="en-IN" sz="2400" b="1" dirty="0">
                <a:latin typeface="Trebuchet MS" panose="020B0603020202020204" pitchFamily="34" charset="0"/>
              </a:rPr>
              <a:t>already include</a:t>
            </a:r>
            <a:r>
              <a:rPr lang="en-IN" sz="2400" dirty="0">
                <a:latin typeface="Trebuchet MS" panose="020B0603020202020204" pitchFamily="34" charset="0"/>
              </a:rPr>
              <a:t> the content, padding, and border.</a:t>
            </a:r>
          </a:p>
          <a:p>
            <a:endParaRPr lang="en-IN" sz="2400" dirty="0">
              <a:latin typeface="Trebuchet MS" panose="020B0603020202020204" pitchFamily="34" charset="0"/>
            </a:endParaRPr>
          </a:p>
          <a:p>
            <a:r>
              <a:rPr lang="en-IN" sz="2400" dirty="0">
                <a:latin typeface="Trebuchet MS" panose="020B0603020202020204" pitchFamily="34" charset="0"/>
              </a:rPr>
              <a:t>The browser adjusts the content area automatically to keep the total size fixed.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48552-4955-9F7F-0FCE-BA8638695913}"/>
              </a:ext>
            </a:extLst>
          </p:cNvPr>
          <p:cNvSpPr txBox="1"/>
          <p:nvPr/>
        </p:nvSpPr>
        <p:spPr>
          <a:xfrm>
            <a:off x="1431469" y="333145"/>
            <a:ext cx="6302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Bernard MT Condensed" panose="02050806060905020404" pitchFamily="18" charset="0"/>
              </a:rPr>
              <a:t>BORDER-BOX: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F2260-6404-8ECD-960F-4C0F44262CF8}"/>
              </a:ext>
            </a:extLst>
          </p:cNvPr>
          <p:cNvSpPr txBox="1"/>
          <p:nvPr/>
        </p:nvSpPr>
        <p:spPr>
          <a:xfrm>
            <a:off x="8033658" y="3429000"/>
            <a:ext cx="38154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Example:</a:t>
            </a:r>
            <a:br>
              <a:rPr lang="en-IN" sz="2000" dirty="0"/>
            </a:b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highlight>
                  <a:srgbClr val="808080"/>
                </a:highlight>
              </a:rPr>
              <a:t>.box{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width:200px;</a:t>
            </a:r>
          </a:p>
          <a:p>
            <a:r>
              <a:rPr lang="en-IN" sz="2000" dirty="0">
                <a:highlight>
                  <a:srgbClr val="808080"/>
                </a:highlight>
              </a:rPr>
              <a:t> padding:20px; </a:t>
            </a:r>
          </a:p>
          <a:p>
            <a:r>
              <a:rPr lang="en-IN" sz="2000" dirty="0">
                <a:highlight>
                  <a:srgbClr val="808080"/>
                </a:highlight>
              </a:rPr>
              <a:t>border:5px solid black; </a:t>
            </a:r>
          </a:p>
          <a:p>
            <a:r>
              <a:rPr lang="en-IN" sz="2000" dirty="0" err="1">
                <a:highlight>
                  <a:srgbClr val="808080"/>
                </a:highlight>
              </a:rPr>
              <a:t>box-sizing:border-box</a:t>
            </a:r>
            <a:r>
              <a:rPr lang="en-IN" sz="2000" dirty="0">
                <a:highlight>
                  <a:srgbClr val="808080"/>
                </a:highlight>
              </a:rPr>
              <a:t>;</a:t>
            </a:r>
          </a:p>
          <a:p>
            <a:r>
              <a:rPr lang="en-IN" sz="2000" dirty="0">
                <a:highlight>
                  <a:srgbClr val="808080"/>
                </a:highlight>
              </a:rPr>
              <a:t> }</a:t>
            </a:r>
            <a:endParaRPr lang="en-IN" sz="2000" dirty="0">
              <a:highlight>
                <a:srgbClr val="808080"/>
              </a:highlight>
              <a:latin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077B0-B7E9-F4B0-0D5E-53EED3CB5136}"/>
              </a:ext>
            </a:extLst>
          </p:cNvPr>
          <p:cNvSpPr txBox="1"/>
          <p:nvPr/>
        </p:nvSpPr>
        <p:spPr>
          <a:xfrm>
            <a:off x="1578429" y="4271942"/>
            <a:ext cx="4637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ernard MT Condensed" panose="02050806060905020404" pitchFamily="18" charset="0"/>
              </a:rPr>
              <a:t>Width Calculation:</a:t>
            </a:r>
          </a:p>
          <a:p>
            <a:endParaRPr lang="en-IN" sz="2800" dirty="0">
              <a:latin typeface="Bernard MT Condensed" panose="02050806060905020404" pitchFamily="18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Total width = 200px 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(Content + Padding + Border = 200px)</a:t>
            </a:r>
          </a:p>
        </p:txBody>
      </p:sp>
    </p:spTree>
    <p:extLst>
      <p:ext uri="{BB962C8B-B14F-4D97-AF65-F5344CB8AC3E}">
        <p14:creationId xmlns:p14="http://schemas.microsoft.com/office/powerpoint/2010/main" val="1864121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chemeClr val="accent1">
                <a:lumMod val="75000"/>
              </a:schemeClr>
            </a:gs>
            <a:gs pos="40000">
              <a:schemeClr val="tx2">
                <a:lumMod val="25000"/>
                <a:lumOff val="75000"/>
              </a:schemeClr>
            </a:gs>
            <a:gs pos="71000">
              <a:schemeClr val="accent4">
                <a:lumMod val="40000"/>
                <a:lumOff val="60000"/>
              </a:schemeClr>
            </a:gs>
            <a:gs pos="98000">
              <a:schemeClr val="accent4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63E82-923A-FD99-D5CA-E766D8E5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2BAE0B-AF5E-0961-05E5-7A448FE67B45}"/>
              </a:ext>
            </a:extLst>
          </p:cNvPr>
          <p:cNvSpPr txBox="1"/>
          <p:nvPr/>
        </p:nvSpPr>
        <p:spPr>
          <a:xfrm>
            <a:off x="865414" y="2782429"/>
            <a:ext cx="10461171" cy="1107996"/>
          </a:xfrm>
          <a:prstGeom prst="rect">
            <a:avLst/>
          </a:prstGeom>
          <a:gradFill>
            <a:gsLst>
              <a:gs pos="10000">
                <a:schemeClr val="accent2">
                  <a:lumMod val="20000"/>
                  <a:lumOff val="80000"/>
                </a:schemeClr>
              </a:gs>
              <a:gs pos="40000">
                <a:schemeClr val="tx2">
                  <a:lumMod val="25000"/>
                  <a:lumOff val="75000"/>
                </a:schemeClr>
              </a:gs>
              <a:gs pos="71000">
                <a:schemeClr val="bg1">
                  <a:lumMod val="75000"/>
                </a:schemeClr>
              </a:gs>
              <a:gs pos="98000">
                <a:schemeClr val="accent4">
                  <a:lumMod val="40000"/>
                  <a:lumOff val="60000"/>
                </a:schemeClr>
              </a:gs>
            </a:gsLst>
            <a:lin ang="27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 rad="127000">
                    <a:schemeClr val="accent1"/>
                  </a:glow>
                  <a:outerShdw blurRad="50800" dist="50800" dir="5400000" algn="ctr" rotWithShape="0">
                    <a:srgbClr val="000000">
                      <a:alpha val="87000"/>
                    </a:srgbClr>
                  </a:outerShdw>
                </a:effectLst>
                <a:latin typeface="Eras Bold ITC" panose="020B09070305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247584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1414</TotalTime>
  <Words>799</Words>
  <Application>Microsoft Office PowerPoint</Application>
  <PresentationFormat>Widescreen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Algerian</vt:lpstr>
      <vt:lpstr>Aptos</vt:lpstr>
      <vt:lpstr>Aptos Display</vt:lpstr>
      <vt:lpstr>Arial</vt:lpstr>
      <vt:lpstr>Bernard MT Condensed</vt:lpstr>
      <vt:lpstr>Century Schoolbook</vt:lpstr>
      <vt:lpstr>Eras Bold ITC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SaravanaKumar V</dc:creator>
  <cp:lastModifiedBy>SaravanaKumar V</cp:lastModifiedBy>
  <cp:revision>22</cp:revision>
  <dcterms:created xsi:type="dcterms:W3CDTF">2026-07-16T06:37:26Z</dcterms:created>
  <dcterms:modified xsi:type="dcterms:W3CDTF">2026-07-17T06:12:24Z</dcterms:modified>
</cp:coreProperties>
</file>